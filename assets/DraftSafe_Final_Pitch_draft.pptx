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A51744-2F5C-48D3-A0E7-A5488AA246EF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5AED51-C04A-4252-B427-284F2F4F8F24}">
      <dgm:prSet phldrT="[Text]" custT="1"/>
      <dgm:spPr/>
      <dgm:t>
        <a:bodyPr/>
        <a:lstStyle/>
        <a:p>
          <a:endParaRPr lang="en-US" sz="1400" dirty="0"/>
        </a:p>
      </dgm:t>
    </dgm:pt>
    <dgm:pt modelId="{5F8A1DCF-A938-48A0-B373-434BB84E9808}" type="parTrans" cxnId="{8AEFC1C3-1BB0-4F01-A520-37FE30A304D4}">
      <dgm:prSet/>
      <dgm:spPr/>
      <dgm:t>
        <a:bodyPr/>
        <a:lstStyle/>
        <a:p>
          <a:endParaRPr lang="en-US"/>
        </a:p>
      </dgm:t>
    </dgm:pt>
    <dgm:pt modelId="{35C3A9DD-C88D-4FA9-AFA2-2D44ECB75779}" type="sibTrans" cxnId="{8AEFC1C3-1BB0-4F01-A520-37FE30A304D4}">
      <dgm:prSet/>
      <dgm:spPr/>
      <dgm:t>
        <a:bodyPr/>
        <a:lstStyle/>
        <a:p>
          <a:endParaRPr lang="en-US"/>
        </a:p>
      </dgm:t>
    </dgm:pt>
    <dgm:pt modelId="{02B635FA-6731-4742-BC0F-ACC94E3F3FF9}" type="pres">
      <dgm:prSet presAssocID="{8FA51744-2F5C-48D3-A0E7-A5488AA246EF}" presName="Name0" presStyleCnt="0">
        <dgm:presLayoutVars>
          <dgm:dir/>
          <dgm:animLvl val="lvl"/>
          <dgm:resizeHandles val="exact"/>
        </dgm:presLayoutVars>
      </dgm:prSet>
      <dgm:spPr/>
    </dgm:pt>
    <dgm:pt modelId="{DCEA57BB-1036-4791-B9E2-FAD4313DDD43}" type="pres">
      <dgm:prSet presAssocID="{545AED51-C04A-4252-B427-284F2F4F8F24}" presName="Name8" presStyleCnt="0"/>
      <dgm:spPr/>
    </dgm:pt>
    <dgm:pt modelId="{07D2807A-B49E-47BC-B2B1-9E7DDEE30A98}" type="pres">
      <dgm:prSet presAssocID="{545AED51-C04A-4252-B427-284F2F4F8F24}" presName="level" presStyleLbl="node1" presStyleIdx="0" presStyleCnt="1">
        <dgm:presLayoutVars>
          <dgm:chMax val="1"/>
          <dgm:bulletEnabled val="1"/>
        </dgm:presLayoutVars>
      </dgm:prSet>
      <dgm:spPr/>
    </dgm:pt>
    <dgm:pt modelId="{1DA67618-F7D1-4271-A48D-115AC5CF0251}" type="pres">
      <dgm:prSet presAssocID="{545AED51-C04A-4252-B427-284F2F4F8F2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C04A001-0796-4C36-9E2E-6FA4DB62587C}" type="presOf" srcId="{8FA51744-2F5C-48D3-A0E7-A5488AA246EF}" destId="{02B635FA-6731-4742-BC0F-ACC94E3F3FF9}" srcOrd="0" destOrd="0" presId="urn:microsoft.com/office/officeart/2005/8/layout/pyramid3"/>
    <dgm:cxn modelId="{CA11FA08-66F1-4D7E-A0DD-25FD527231DD}" type="presOf" srcId="{545AED51-C04A-4252-B427-284F2F4F8F24}" destId="{1DA67618-F7D1-4271-A48D-115AC5CF0251}" srcOrd="1" destOrd="0" presId="urn:microsoft.com/office/officeart/2005/8/layout/pyramid3"/>
    <dgm:cxn modelId="{8AEFC1C3-1BB0-4F01-A520-37FE30A304D4}" srcId="{8FA51744-2F5C-48D3-A0E7-A5488AA246EF}" destId="{545AED51-C04A-4252-B427-284F2F4F8F24}" srcOrd="0" destOrd="0" parTransId="{5F8A1DCF-A938-48A0-B373-434BB84E9808}" sibTransId="{35C3A9DD-C88D-4FA9-AFA2-2D44ECB75779}"/>
    <dgm:cxn modelId="{7A45CCC9-9836-42D1-BF09-BF60C550350C}" type="presOf" srcId="{545AED51-C04A-4252-B427-284F2F4F8F24}" destId="{07D2807A-B49E-47BC-B2B1-9E7DDEE30A98}" srcOrd="0" destOrd="0" presId="urn:microsoft.com/office/officeart/2005/8/layout/pyramid3"/>
    <dgm:cxn modelId="{D57E01CC-494E-47AA-B90B-FE30DAEC9FEC}" type="presParOf" srcId="{02B635FA-6731-4742-BC0F-ACC94E3F3FF9}" destId="{DCEA57BB-1036-4791-B9E2-FAD4313DDD43}" srcOrd="0" destOrd="0" presId="urn:microsoft.com/office/officeart/2005/8/layout/pyramid3"/>
    <dgm:cxn modelId="{C54EBCBC-6EBE-4963-9265-0767B2C21018}" type="presParOf" srcId="{DCEA57BB-1036-4791-B9E2-FAD4313DDD43}" destId="{07D2807A-B49E-47BC-B2B1-9E7DDEE30A98}" srcOrd="0" destOrd="0" presId="urn:microsoft.com/office/officeart/2005/8/layout/pyramid3"/>
    <dgm:cxn modelId="{7515316A-FC2F-4A48-8785-6F5C472FBF51}" type="presParOf" srcId="{DCEA57BB-1036-4791-B9E2-FAD4313DDD43}" destId="{1DA67618-F7D1-4271-A48D-115AC5CF0251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2807A-B49E-47BC-B2B1-9E7DDEE30A98}">
      <dsp:nvSpPr>
        <dsp:cNvPr id="0" name=""/>
        <dsp:cNvSpPr/>
      </dsp:nvSpPr>
      <dsp:spPr>
        <a:xfrm rot="10800000">
          <a:off x="0" y="0"/>
          <a:ext cx="8971984" cy="5633015"/>
        </a:xfrm>
        <a:prstGeom prst="trapezoid">
          <a:avLst>
            <a:gd name="adj" fmla="val 7963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 rot="-10800000">
        <a:off x="0" y="0"/>
        <a:ext cx="8971984" cy="5633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870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Hook: What if AI could help healthcare professionals document faster without replacing their judgment?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the human problem: documentation overload takes time away from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heavy technical language. Emphasize inconsistency and extra review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DraftSafe combines AI drafting with structured review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healthcare professionals document differently and DraftSafe adapts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differentiator slide. DraftSafe helps identify missing structure before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Address audience concerns directly. Emphasize AI assistance, not AI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future vision realistic and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Memorable conclusion: the goal is to help professionals spend less time fighting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DraftSafe™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Practitioner Documentation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AI-assisted drafting, built-in documentation checks, and human review support.</a:t>
            </a:r>
          </a:p>
          <a:p>
            <a:pPr>
              <a:defRPr sz="1800"/>
            </a:pPr>
            <a:r>
              <a:t>Business Communications Final Pitch</a:t>
            </a:r>
          </a:p>
          <a:p>
            <a:pPr>
              <a:defRPr sz="1800"/>
            </a:pPr>
            <a:r>
              <a:t>Presented by Shamir Dominique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Healthcare professionals spend significant time documenting</a:t>
            </a:r>
          </a:p>
          <a:p>
            <a:pPr>
              <a:defRPr sz="2200"/>
            </a:pPr>
            <a:r>
              <a:t>Fragmented intake slows workflow efficiency</a:t>
            </a:r>
          </a:p>
          <a:p>
            <a:pPr>
              <a:defRPr sz="2200"/>
            </a:pPr>
            <a:r>
              <a:t>Documentation burden contributes to burnout</a:t>
            </a:r>
          </a:p>
          <a:p>
            <a:pPr>
              <a:defRPr sz="2200"/>
            </a:pPr>
            <a:r>
              <a:t>Incomplete notes can impact continuity of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Why Current AI Tools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Most AI tools summarize but do not validate</a:t>
            </a:r>
          </a:p>
          <a:p>
            <a:pPr>
              <a:defRPr sz="2200"/>
            </a:pPr>
            <a:r>
              <a:t>Important documentation details can still be missed</a:t>
            </a:r>
          </a:p>
          <a:p>
            <a:pPr>
              <a:defRPr sz="2200"/>
            </a:pPr>
            <a:r>
              <a:t>Professionals still spend time double-checking outputs</a:t>
            </a:r>
          </a:p>
          <a:p>
            <a:pPr>
              <a:defRPr sz="2200"/>
            </a:pPr>
            <a:r>
              <a:t>Current tools often feel overly 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The DraftSafe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Intake Capture</a:t>
            </a:r>
          </a:p>
          <a:p>
            <a:pPr>
              <a:defRPr sz="2200"/>
            </a:pPr>
            <a:r>
              <a:t>AI Draft Generation</a:t>
            </a:r>
          </a:p>
          <a:p>
            <a:pPr>
              <a:defRPr sz="2200"/>
            </a:pPr>
            <a:r>
              <a:t>Built-In Documentation Checks</a:t>
            </a:r>
          </a:p>
          <a:p>
            <a:pPr>
              <a:defRPr sz="2200"/>
            </a:pPr>
            <a:r>
              <a:t>Practitioner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Practitioner-Specific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OT-focused workflow support</a:t>
            </a:r>
          </a:p>
          <a:p>
            <a:pPr>
              <a:defRPr sz="2200"/>
            </a:pPr>
            <a:r>
              <a:t>Pharmacist-focused medication review support</a:t>
            </a:r>
          </a:p>
          <a:p>
            <a:pPr>
              <a:defRPr sz="2200"/>
            </a:pPr>
            <a:r>
              <a:t>Wellness and intake support pathways</a:t>
            </a:r>
          </a:p>
          <a:p>
            <a:pPr>
              <a:defRPr sz="2200"/>
            </a:pPr>
            <a:r>
              <a:t>Different workflows for different professionals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Real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Messy Intake Information</a:t>
            </a:r>
          </a:p>
          <a:p>
            <a:pPr>
              <a:defRPr sz="2200"/>
            </a:pPr>
            <a:r>
              <a:t>AI Draft Creation</a:t>
            </a:r>
          </a:p>
          <a:p>
            <a:pPr>
              <a:defRPr sz="2200"/>
            </a:pPr>
            <a:r>
              <a:t>Documentation Check Flags Missing Areas</a:t>
            </a:r>
          </a:p>
          <a:p>
            <a:pPr>
              <a:defRPr sz="2200"/>
            </a:pPr>
            <a:r>
              <a:t>Human Reviews Final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Human Review &amp; Safety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7D080AC-123F-3F54-5694-018DDFAD5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5335"/>
              </p:ext>
            </p:extLst>
          </p:nvPr>
        </p:nvGraphicFramePr>
        <p:xfrm>
          <a:off x="86008" y="1224984"/>
          <a:ext cx="8971984" cy="5633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Future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Expanded practitioner support</a:t>
            </a:r>
          </a:p>
          <a:p>
            <a:pPr>
              <a:defRPr sz="2200"/>
            </a:pPr>
            <a:r>
              <a:rPr dirty="0"/>
              <a:t>Improved workflow integrations</a:t>
            </a:r>
          </a:p>
          <a:p>
            <a:pPr>
              <a:defRPr sz="2200"/>
            </a:pPr>
            <a:r>
              <a:rPr dirty="0"/>
              <a:t>Better cue detection and validation</a:t>
            </a:r>
          </a:p>
          <a:p>
            <a:pPr>
              <a:defRPr sz="2200"/>
            </a:pPr>
            <a:r>
              <a:rPr dirty="0"/>
              <a:t>Scalable documentation assistance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Reduce documentation friction</a:t>
            </a:r>
          </a:p>
          <a:p>
            <a:pPr>
              <a:defRPr sz="2200"/>
            </a:pPr>
            <a:r>
              <a:rPr dirty="0"/>
              <a:t>Preserve professional judgment</a:t>
            </a:r>
          </a:p>
          <a:p>
            <a:pPr>
              <a:defRPr sz="2200"/>
            </a:pPr>
            <a:r>
              <a:rPr dirty="0"/>
              <a:t>Support safer and more structured workflows</a:t>
            </a:r>
          </a:p>
          <a:p>
            <a:pPr>
              <a:defRPr sz="2200"/>
            </a:pPr>
            <a:r>
              <a:rPr dirty="0"/>
              <a:t>Help professionals focus more on people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289</Words>
  <Application>Microsoft Office PowerPoint</Application>
  <PresentationFormat>On-screen Show (4:3)</PresentationFormat>
  <Paragraphs>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DraftSafe™</vt:lpstr>
      <vt:lpstr>The Problem</vt:lpstr>
      <vt:lpstr>Why Current AI Tools Fall Short</vt:lpstr>
      <vt:lpstr>The DraftSafe Solution</vt:lpstr>
      <vt:lpstr>Practitioner-Specific Intelligence</vt:lpstr>
      <vt:lpstr>Real Workflow Example</vt:lpstr>
      <vt:lpstr>Human Review &amp; Safety</vt:lpstr>
      <vt:lpstr>Future Potential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shamir D</dc:creator>
  <cp:keywords/>
  <dc:description>generated using python-pptx</dc:description>
  <cp:lastModifiedBy>Shamir Dominique</cp:lastModifiedBy>
  <cp:revision>2</cp:revision>
  <dcterms:created xsi:type="dcterms:W3CDTF">2013-01-27T09:14:16Z</dcterms:created>
  <dcterms:modified xsi:type="dcterms:W3CDTF">2026-05-10T16:32:37Z</dcterms:modified>
  <cp:category/>
</cp:coreProperties>
</file>